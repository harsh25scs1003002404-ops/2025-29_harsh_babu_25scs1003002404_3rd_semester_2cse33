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8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49640" y="1051560"/>
            <a:ext cx="288036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49640" y="1581912"/>
            <a:ext cx="288036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49640" y="2112263"/>
            <a:ext cx="288036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49640" y="2642615"/>
            <a:ext cx="288036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3172968"/>
            <a:ext cx="288036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3703320"/>
            <a:ext cx="288036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4233671"/>
            <a:ext cx="288036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49640" y="1051560"/>
            <a:ext cx="73152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62872" y="1051560"/>
            <a:ext cx="73152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6104" y="1051560"/>
            <a:ext cx="73152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89336" y="1051560"/>
            <a:ext cx="73152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02567" y="1051560"/>
            <a:ext cx="731520" cy="10160"/>
          </a:xfrm>
          <a:prstGeom prst="rect">
            <a:avLst/>
          </a:prstGeom>
          <a:solidFill>
            <a:srgbClr val="343D53"/>
          </a:solidFill>
          <a:ln>
            <a:solidFill>
              <a:srgbClr val="34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ilm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"/>
            <a:ext cx="514677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35024" y="42976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Aptos Display"/>
              </a:rPr>
              <a:t>IILM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731520"/>
            <a:ext cx="6126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90" b="1">
                <a:solidFill>
                  <a:srgbClr val="A7B1C4"/>
                </a:solidFill>
                <a:latin typeface="Aptos"/>
              </a:rPr>
              <a:t>GREATER NOIDA  •  SCHOOL OF COMPUTER SCIENCE &amp; ENGINEERING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481328"/>
            <a:ext cx="1993392" cy="310896"/>
          </a:xfrm>
          <a:prstGeom prst="roundRect">
            <a:avLst>
              <a:gd name="adj" fmla="val 8000"/>
            </a:avLst>
          </a:prstGeom>
          <a:solidFill>
            <a:srgbClr val="282D41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1549908"/>
            <a:ext cx="184708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INTERNSHIP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76272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Web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7889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D2C7FF"/>
                </a:solidFill>
                <a:latin typeface="Aptos Display"/>
              </a:rPr>
              <a:t>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349300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4D9E5"/>
                </a:solidFill>
                <a:latin typeface="Aptos"/>
              </a:rPr>
              <a:t>at Sieve Capital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" y="4114800"/>
            <a:ext cx="3017520" cy="25400"/>
          </a:xfrm>
          <a:prstGeom prst="rect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4407408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5" b="1">
                <a:solidFill>
                  <a:srgbClr val="FFFFFF"/>
                </a:solidFill>
                <a:latin typeface="Aptos"/>
              </a:rPr>
              <a:t>HARSH BABU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4407408"/>
            <a:ext cx="2331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3" b="1">
                <a:solidFill>
                  <a:srgbClr val="B5BECF"/>
                </a:solidFill>
                <a:latin typeface="Aptos"/>
              </a:rPr>
              <a:t>25SCS1003002404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480060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4" b="0">
                <a:solidFill>
                  <a:srgbClr val="B5BECF"/>
                </a:solidFill>
                <a:latin typeface="Aptos"/>
              </a:rPr>
              <a:t>B.Tech CSE  •  3rd Semester  •  Batch 2025–29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5669280"/>
            <a:ext cx="3840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D2C7FF"/>
                </a:solidFill>
                <a:latin typeface="Aptos"/>
              </a:rPr>
              <a:t>15 MAY 2026  —  15 AUG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9EA8B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3"/>
          </a:solidFill>
          <a:ln>
            <a:solidFill>
              <a:srgbClr val="F7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Internship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A quick overview before the technical journey.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73352"/>
            <a:ext cx="2880360" cy="4370832"/>
          </a:xfrm>
          <a:prstGeom prst="roundRect">
            <a:avLst>
              <a:gd name="adj" fmla="val 8000"/>
            </a:avLst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>
                <a:solidFill>
                  <a:srgbClr val="D2C7FF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889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9A53"/>
                </a:solidFill>
                <a:latin typeface="Aptos"/>
              </a:rPr>
              <a:t>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246120"/>
            <a:ext cx="1874519" cy="12700"/>
          </a:xfrm>
          <a:prstGeom prst="rect">
            <a:avLst/>
          </a:prstGeom>
          <a:solidFill>
            <a:srgbClr val="41495E"/>
          </a:solidFill>
          <a:ln>
            <a:solidFill>
              <a:srgbClr val="41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1920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 Display"/>
              </a:rPr>
              <a:t>Web Development
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548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5" b="1">
                <a:solidFill>
                  <a:srgbClr val="BEC6D7"/>
                </a:solidFill>
                <a:latin typeface="Aptos"/>
              </a:rPr>
              <a:t>Sieve Capital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321808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2A3045"/>
          </a:solidFill>
          <a:ln>
            <a:solidFill>
              <a:srgbClr val="2A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5390388"/>
            <a:ext cx="1362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15 MAY → 15 AUG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691640"/>
            <a:ext cx="342900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1691640"/>
            <a:ext cx="73152" cy="1261872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1920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6F7787"/>
                </a:solidFill>
                <a:latin typeface="Aptos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224942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0" b="1">
                <a:solidFill>
                  <a:srgbClr val="111623"/>
                </a:solidFill>
                <a:latin typeface="Aptos"/>
              </a:rPr>
              <a:t>Web 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691640"/>
            <a:ext cx="342900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1691640"/>
            <a:ext cx="73152" cy="1261872"/>
          </a:xfrm>
          <a:prstGeom prst="rect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1920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6F7787"/>
                </a:solidFill>
                <a:latin typeface="Aptos"/>
              </a:rPr>
              <a:t>ORGANIZATION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24942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0" b="1">
                <a:solidFill>
                  <a:srgbClr val="111623"/>
                </a:solidFill>
                <a:latin typeface="Aptos"/>
              </a:rPr>
              <a:t>Sieve Capital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246120"/>
            <a:ext cx="342900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3246120"/>
            <a:ext cx="73152" cy="1261872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347472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6F7787"/>
                </a:solidFill>
                <a:latin typeface="Aptos"/>
              </a:rPr>
              <a:t>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380390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0" b="1">
                <a:solidFill>
                  <a:srgbClr val="111623"/>
                </a:solidFill>
                <a:latin typeface="Aptos"/>
              </a:rPr>
              <a:t>3 Months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246120"/>
            <a:ext cx="342900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3246120"/>
            <a:ext cx="73152" cy="1261872"/>
          </a:xfrm>
          <a:prstGeom prst="rect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347472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6F7787"/>
                </a:solidFill>
                <a:latin typeface="Aptos"/>
              </a:rPr>
              <a:t>RECOGNITION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380390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0" b="1">
                <a:solidFill>
                  <a:srgbClr val="111623"/>
                </a:solidFill>
                <a:latin typeface="Aptos"/>
              </a:rPr>
              <a:t>Completion Certificate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4800600"/>
            <a:ext cx="7269480" cy="1078992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05663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795BFF"/>
                </a:solidFill>
                <a:latin typeface="Aptos"/>
              </a:rPr>
              <a:t>INTERNSHIP FOCUS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4992624"/>
            <a:ext cx="9601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2432" y="5061204"/>
            <a:ext cx="8138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UI / UX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48272" y="4992624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5061204"/>
            <a:ext cx="90525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FRONTEND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18704" y="4992624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91856" y="5061204"/>
            <a:ext cx="12710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API INTEGRATION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54896" y="4992624"/>
            <a:ext cx="8412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8048" y="5061204"/>
            <a:ext cx="6949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TESTING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96728" y="4992624"/>
            <a:ext cx="9601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69880" y="5061204"/>
            <a:ext cx="8138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F7787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6F77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About Sieve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The professional environment behind the internship.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11623"/>
                </a:solidFill>
                <a:latin typeface="Aptos Display"/>
              </a:rPr>
              <a:t>SIEVE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795BFF"/>
                </a:solidFill>
                <a:latin typeface="Aptos Display"/>
              </a:rPr>
              <a:t>CAPITAL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309067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59252"/>
            <a:ext cx="20939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VENTURE CAPITAL +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730752"/>
            <a:ext cx="3063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3" b="0">
                <a:solidFill>
                  <a:srgbClr val="6F7787"/>
                </a:solidFill>
                <a:latin typeface="Aptos"/>
              </a:rPr>
              <a:t>Sieve Capital leverages modern software engineering and automation to optimize financial and operational workflows, building high-performance digital platforms, proprietary tools, and data-driven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7086600" cy="1261872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2176272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58568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96596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795BFF"/>
                </a:solidFill>
                <a:latin typeface="Aptos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304288"/>
            <a:ext cx="5715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7" b="0">
                <a:solidFill>
                  <a:srgbClr val="2C3344"/>
                </a:solidFill>
                <a:latin typeface="Aptos"/>
              </a:rPr>
              <a:t>Hands-on technical internships with direct exposure to production-grade software development.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218688"/>
            <a:ext cx="7086600" cy="1261872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53712" y="3657600"/>
            <a:ext cx="347472" cy="347472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739896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44728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FF9A53"/>
                </a:solidFill>
                <a:latin typeface="Aptos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785615"/>
            <a:ext cx="5715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7" b="0">
                <a:solidFill>
                  <a:srgbClr val="2C3344"/>
                </a:solidFill>
                <a:latin typeface="Aptos"/>
              </a:rPr>
              <a:t>Equip engineering students and early-career developers with industry-ready skill sets.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700016"/>
            <a:ext cx="7086600" cy="1261872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53712" y="5138928"/>
            <a:ext cx="347472" cy="347472"/>
          </a:xfrm>
          <a:prstGeom prst="ellipse">
            <a:avLst/>
          </a:prstGeom>
          <a:solidFill>
            <a:srgbClr val="37946F"/>
          </a:solidFill>
          <a:ln>
            <a:solidFill>
              <a:srgbClr val="379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5221224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492861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37946F"/>
                </a:solidFill>
                <a:latin typeface="Aptos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5266944"/>
            <a:ext cx="5715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7" b="0">
                <a:solidFill>
                  <a:srgbClr val="2C3344"/>
                </a:solidFill>
                <a:latin typeface="Aptos"/>
              </a:rPr>
              <a:t>Work alongside experienced teams on full-stack development, APIs, databases and cloud infrastructure.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557784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795BFF"/>
                </a:solidFill>
                <a:latin typeface="Aptos"/>
              </a:rPr>
              <a:t>THE 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50468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4" b="1">
                <a:solidFill>
                  <a:srgbClr val="111623"/>
                </a:solidFill>
                <a:latin typeface="Aptos"/>
              </a:rPr>
              <a:t>A technology-driven setting where classroom concepts could be applied to practical development work.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F7787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6F778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3"/>
          </a:solidFill>
          <a:ln>
            <a:solidFill>
              <a:srgbClr val="F7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Problem →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Turning academic knowledge into production-oriented capability.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82496"/>
            <a:ext cx="4617720" cy="4498848"/>
          </a:xfrm>
          <a:prstGeom prst="roundRect">
            <a:avLst>
              <a:gd name="adj" fmla="val 8000"/>
            </a:avLst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9339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FF9A53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468880"/>
            <a:ext cx="347472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 Display"/>
              </a:rPr>
              <a:t>Code is only
part of the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520440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C1C9D9"/>
                </a:solidFill>
                <a:latin typeface="Aptos"/>
              </a:rPr>
              <a:t>Production-ready web development also demands responsive design, scalability, maintainability, performance and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4828032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282F44"/>
          </a:solidFill>
          <a:ln>
            <a:solidFill>
              <a:srgbClr val="28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96612"/>
            <a:ext cx="90525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RESPONSIVE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9696" y="482803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282F44"/>
          </a:solidFill>
          <a:ln>
            <a:solidFill>
              <a:srgbClr val="28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2848" y="4896612"/>
            <a:ext cx="8138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SCALABLE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6976" y="4828032"/>
            <a:ext cx="822960" cy="310896"/>
          </a:xfrm>
          <a:prstGeom prst="roundRect">
            <a:avLst>
              <a:gd name="adj" fmla="val 8000"/>
            </a:avLst>
          </a:prstGeom>
          <a:solidFill>
            <a:srgbClr val="282F44"/>
          </a:solidFill>
          <a:ln>
            <a:solidFill>
              <a:srgbClr val="28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4896612"/>
            <a:ext cx="6766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SECURE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266944"/>
            <a:ext cx="1261872" cy="310896"/>
          </a:xfrm>
          <a:prstGeom prst="roundRect">
            <a:avLst>
              <a:gd name="adj" fmla="val 8000"/>
            </a:avLst>
          </a:prstGeom>
          <a:solidFill>
            <a:srgbClr val="282F44"/>
          </a:solidFill>
          <a:ln>
            <a:solidFill>
              <a:srgbClr val="28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335524"/>
            <a:ext cx="111556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MAINTAINABLE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173736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OBJECTIVES</a:t>
            </a:r>
          </a:p>
        </p:txBody>
      </p:sp>
      <p:sp>
        <p:nvSpPr>
          <p:cNvPr id="20" name="Oval 19"/>
          <p:cNvSpPr/>
          <p:nvPr/>
        </p:nvSpPr>
        <p:spPr>
          <a:xfrm>
            <a:off x="5870448" y="2194560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0448" y="2276856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157984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6" b="0">
                <a:solidFill>
                  <a:srgbClr val="2C3344"/>
                </a:solidFill>
                <a:latin typeface="Aptos"/>
              </a:rPr>
              <a:t>Understand the end-to-end web development lifecycle</a:t>
            </a:r>
          </a:p>
        </p:txBody>
      </p:sp>
      <p:sp>
        <p:nvSpPr>
          <p:cNvPr id="23" name="Oval 22"/>
          <p:cNvSpPr/>
          <p:nvPr/>
        </p:nvSpPr>
        <p:spPr>
          <a:xfrm>
            <a:off x="5870448" y="2807208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2889503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770632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6" b="0">
                <a:solidFill>
                  <a:srgbClr val="2C3344"/>
                </a:solidFill>
                <a:latin typeface="Aptos"/>
              </a:rPr>
              <a:t>Design and build responsive UIs with HTML5, CSS3/Tailwind and JS frameworks</a:t>
            </a:r>
          </a:p>
        </p:txBody>
      </p:sp>
      <p:sp>
        <p:nvSpPr>
          <p:cNvPr id="26" name="Oval 25"/>
          <p:cNvSpPr/>
          <p:nvPr/>
        </p:nvSpPr>
        <p:spPr>
          <a:xfrm>
            <a:off x="5870448" y="3419856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3502151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383279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6" b="0">
                <a:solidFill>
                  <a:srgbClr val="2C3344"/>
                </a:solidFill>
                <a:latin typeface="Aptos"/>
              </a:rPr>
              <a:t>Support smooth navigation and cross-browser compatibility</a:t>
            </a:r>
          </a:p>
        </p:txBody>
      </p:sp>
      <p:sp>
        <p:nvSpPr>
          <p:cNvPr id="29" name="Oval 28"/>
          <p:cNvSpPr/>
          <p:nvPr/>
        </p:nvSpPr>
        <p:spPr>
          <a:xfrm>
            <a:off x="5870448" y="4032503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114799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995928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6" b="0">
                <a:solidFill>
                  <a:srgbClr val="2C3344"/>
                </a:solidFill>
                <a:latin typeface="Aptos"/>
              </a:rPr>
              <a:t>Apply state management for seamless data flow</a:t>
            </a:r>
          </a:p>
        </p:txBody>
      </p:sp>
      <p:sp>
        <p:nvSpPr>
          <p:cNvPr id="32" name="Oval 31"/>
          <p:cNvSpPr/>
          <p:nvPr/>
        </p:nvSpPr>
        <p:spPr>
          <a:xfrm>
            <a:off x="5870448" y="4645151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4727447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608576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6" b="0">
                <a:solidFill>
                  <a:srgbClr val="2C3344"/>
                </a:solidFill>
                <a:latin typeface="Aptos"/>
              </a:rPr>
              <a:t>Use cloud hosting and Git/GitHub version control</a:t>
            </a:r>
          </a:p>
        </p:txBody>
      </p:sp>
      <p:sp>
        <p:nvSpPr>
          <p:cNvPr id="35" name="Oval 34"/>
          <p:cNvSpPr/>
          <p:nvPr/>
        </p:nvSpPr>
        <p:spPr>
          <a:xfrm>
            <a:off x="5870448" y="5257799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0448" y="5340095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221224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6" b="0">
                <a:solidFill>
                  <a:srgbClr val="2C3344"/>
                </a:solidFill>
                <a:latin typeface="Aptos"/>
              </a:rPr>
              <a:t>Optimize performance, SEO and security practices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F7787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6F778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A visual map of the tools used across the development lifecycle.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039112" cy="3401568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03120"/>
            <a:ext cx="502920" cy="502920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6464" y="2240280"/>
            <a:ext cx="5029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6207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30" b="1">
                <a:solidFill>
                  <a:srgbClr val="111623"/>
                </a:solidFill>
                <a:latin typeface="Aptos Display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56432"/>
            <a:ext cx="1600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10" b="1">
                <a:solidFill>
                  <a:srgbClr val="6F7787"/>
                </a:solidFill>
                <a:latin typeface="Aptos"/>
              </a:rPr>
              <a:t>HTML5
CSS3
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2039112" cy="3401568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4176" y="2103120"/>
            <a:ext cx="502920" cy="502920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240280"/>
            <a:ext cx="5029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86207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30" b="1">
                <a:solidFill>
                  <a:srgbClr val="111623"/>
                </a:solidFill>
                <a:latin typeface="Aptos Display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456432"/>
            <a:ext cx="1600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10" b="1">
                <a:solidFill>
                  <a:srgbClr val="6F7787"/>
                </a:solidFill>
                <a:latin typeface="Aptos"/>
              </a:rPr>
              <a:t>Git
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1828800"/>
            <a:ext cx="2039112" cy="3401568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61888" y="2103120"/>
            <a:ext cx="502920" cy="502920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2240280"/>
            <a:ext cx="5029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86207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30" b="1">
                <a:solidFill>
                  <a:srgbClr val="111623"/>
                </a:solidFill>
                <a:latin typeface="Aptos Display"/>
              </a:rPr>
              <a:t>DEBUG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3456432"/>
            <a:ext cx="1600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10" b="1">
                <a:solidFill>
                  <a:srgbClr val="6F7787"/>
                </a:solidFill>
                <a:latin typeface="Aptos"/>
              </a:rPr>
              <a:t>VS Code
Chrome DevTools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1828800"/>
            <a:ext cx="2039112" cy="3401568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0" y="2103120"/>
            <a:ext cx="502920" cy="502920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40280"/>
            <a:ext cx="5029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86207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30" b="1">
                <a:solidFill>
                  <a:srgbClr val="111623"/>
                </a:solidFill>
                <a:latin typeface="Aptos Display"/>
              </a:rP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3456432"/>
            <a:ext cx="1600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10" b="1">
                <a:solidFill>
                  <a:srgbClr val="6F7787"/>
                </a:solidFill>
                <a:latin typeface="Aptos"/>
              </a:rPr>
              <a:t>Vercel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1828800"/>
            <a:ext cx="2039112" cy="3401568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97312" y="2103120"/>
            <a:ext cx="502920" cy="502920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97312" y="2240280"/>
            <a:ext cx="5029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286207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30" b="1">
                <a:solidFill>
                  <a:srgbClr val="111623"/>
                </a:solidFill>
                <a:latin typeface="Aptos Display"/>
              </a:rPr>
              <a:t>ASSIST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7816" y="3456432"/>
            <a:ext cx="1600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10" b="1">
                <a:solidFill>
                  <a:srgbClr val="6F7787"/>
                </a:solidFill>
                <a:latin typeface="Aptos"/>
              </a:rPr>
              <a:t>Gemini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650992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11623"/>
                </a:solidFill>
                <a:latin typeface="Aptos"/>
              </a:rPr>
              <a:t>A complete loop: build → collaborate → debug → deploy → accelerate.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F7787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6F778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AEB5C6"/>
                </a:solidFill>
                <a:latin typeface="Aptos"/>
              </a:rPr>
              <a:t>Two layers, one connected application 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10771632" cy="4279392"/>
          </a:xfrm>
          <a:prstGeom prst="roundRect">
            <a:avLst>
              <a:gd name="adj" fmla="val 8000"/>
            </a:avLst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41605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596896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2665476"/>
            <a:ext cx="154533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01  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363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623"/>
                </a:solidFill>
                <a:latin typeface="Aptos Display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39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5" b="1">
                <a:solidFill>
                  <a:srgbClr val="2C3344"/>
                </a:solidFill>
                <a:latin typeface="Aptos"/>
              </a:rPr>
              <a:t>HTML5  •  CSS3
JavaScript  •  React.js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6227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5" b="0">
                <a:solidFill>
                  <a:srgbClr val="6F7787"/>
                </a:solidFill>
                <a:latin typeface="Aptos"/>
              </a:rPr>
              <a:t>User interactions, responsive layouts and dynamic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2331720"/>
            <a:ext cx="4160520" cy="2697480"/>
          </a:xfrm>
          <a:prstGeom prst="roundRect">
            <a:avLst>
              <a:gd name="adj" fmla="val 8000"/>
            </a:avLst>
          </a:prstGeom>
          <a:solidFill>
            <a:srgbClr val="273148"/>
          </a:solidFill>
          <a:ln>
            <a:solidFill>
              <a:srgbClr val="27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05472" y="2596896"/>
            <a:ext cx="1481328" cy="310896"/>
          </a:xfrm>
          <a:prstGeom prst="roundRect">
            <a:avLst>
              <a:gd name="adj" fmla="val 8000"/>
            </a:avLst>
          </a:prstGeom>
          <a:solidFill>
            <a:srgbClr val="3A445E"/>
          </a:solidFill>
          <a:ln>
            <a:solidFill>
              <a:srgbClr val="3A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2665476"/>
            <a:ext cx="13350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02  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31363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 Display"/>
              </a:rPr>
              <a:t>Backend +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3749039"/>
            <a:ext cx="3337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2" b="1">
                <a:solidFill>
                  <a:srgbClr val="D3DAE7"/>
                </a:solidFill>
                <a:latin typeface="Aptos"/>
              </a:rPr>
              <a:t>HTTP requests  •  Validation
Database  •  Secure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446227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5" b="0">
                <a:solidFill>
                  <a:srgbClr val="A5B1C7"/>
                </a:solidFill>
                <a:latin typeface="Aptos"/>
              </a:rPr>
              <a:t>Business logic, validation and data connectivity.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85232" y="3675887"/>
            <a:ext cx="1554480" cy="25400"/>
          </a:xfrm>
          <a:prstGeom prst="rect">
            <a:avLst/>
          </a:prstGeom>
          <a:solidFill>
            <a:srgbClr val="D2C7FF"/>
          </a:solidFill>
          <a:ln>
            <a:solidFill>
              <a:srgbClr val="D2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70448" y="3456432"/>
            <a:ext cx="457200" cy="457200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3593592"/>
            <a:ext cx="457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41648" y="5285232"/>
            <a:ext cx="4114800" cy="310896"/>
          </a:xfrm>
          <a:prstGeom prst="roundRect">
            <a:avLst>
              <a:gd name="adj" fmla="val 8000"/>
            </a:avLst>
          </a:prstGeom>
          <a:solidFill>
            <a:srgbClr val="273148"/>
          </a:solidFill>
          <a:ln>
            <a:solidFill>
              <a:srgbClr val="27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5353812"/>
            <a:ext cx="39684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DATABASE  →  MONGODB /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A0A8BA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A0A8B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3"/>
          </a:solidFill>
          <a:ln>
            <a:solidFill>
              <a:srgbClr val="F7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Internship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How the work progressed from onboarding to delivery.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410712"/>
            <a:ext cx="10332720" cy="25400"/>
          </a:xfrm>
          <a:prstGeom prst="rect">
            <a:avLst/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6152" y="3136392"/>
            <a:ext cx="548640" cy="548640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300984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7744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WEEK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913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32" b="1">
                <a:solidFill>
                  <a:srgbClr val="111623"/>
                </a:solidFill>
                <a:latin typeface="Aptos"/>
              </a:rPr>
              <a:t>ONBOARD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70832"/>
            <a:ext cx="1554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79" b="0">
                <a:solidFill>
                  <a:srgbClr val="6F7787"/>
                </a:solidFill>
                <a:latin typeface="Aptos"/>
              </a:rPr>
              <a:t>Codebase • setup • Git • UI/UX</a:t>
            </a:r>
          </a:p>
        </p:txBody>
      </p:sp>
      <p:sp>
        <p:nvSpPr>
          <p:cNvPr id="13" name="Oval 12"/>
          <p:cNvSpPr/>
          <p:nvPr/>
        </p:nvSpPr>
        <p:spPr>
          <a:xfrm>
            <a:off x="3447288" y="3136392"/>
            <a:ext cx="548640" cy="548640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3300984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7744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WEEK 3–5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913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32" b="1">
                <a:solidFill>
                  <a:srgbClr val="111623"/>
                </a:solidFill>
                <a:latin typeface="Aptos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4370832"/>
            <a:ext cx="1554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79" b="0">
                <a:solidFill>
                  <a:srgbClr val="6F7787"/>
                </a:solidFill>
                <a:latin typeface="Aptos"/>
              </a:rPr>
              <a:t>Responsive components • testing</a:t>
            </a:r>
          </a:p>
        </p:txBody>
      </p:sp>
      <p:sp>
        <p:nvSpPr>
          <p:cNvPr id="18" name="Oval 17"/>
          <p:cNvSpPr/>
          <p:nvPr/>
        </p:nvSpPr>
        <p:spPr>
          <a:xfrm>
            <a:off x="5678424" y="3136392"/>
            <a:ext cx="548640" cy="548640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4" y="3300984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37744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WEEK 6–8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3913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32" b="1">
                <a:solidFill>
                  <a:srgbClr val="111623"/>
                </a:solidFill>
                <a:latin typeface="Aptos"/>
              </a:rPr>
              <a:t>INTEGRATE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4370832"/>
            <a:ext cx="1554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79" b="0">
                <a:solidFill>
                  <a:srgbClr val="6F7787"/>
                </a:solidFill>
                <a:latin typeface="Aptos"/>
              </a:rPr>
              <a:t>REST APIs • database • dynamic content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0" y="3136392"/>
            <a:ext cx="548640" cy="548640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300984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37744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WEEK 9–10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913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32" b="1">
                <a:solidFill>
                  <a:srgbClr val="111623"/>
                </a:solidFill>
                <a:latin typeface="Aptos"/>
              </a:rPr>
              <a:t>OPTIMIZE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370832"/>
            <a:ext cx="1554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79" b="0">
                <a:solidFill>
                  <a:srgbClr val="6F7787"/>
                </a:solidFill>
                <a:latin typeface="Aptos"/>
              </a:rPr>
              <a:t>Bugs • assets • SEO • security</a:t>
            </a:r>
          </a:p>
        </p:txBody>
      </p:sp>
      <p:sp>
        <p:nvSpPr>
          <p:cNvPr id="28" name="Oval 27"/>
          <p:cNvSpPr/>
          <p:nvPr/>
        </p:nvSpPr>
        <p:spPr>
          <a:xfrm>
            <a:off x="10140696" y="3136392"/>
            <a:ext cx="548640" cy="548640"/>
          </a:xfrm>
          <a:prstGeom prst="ellipse">
            <a:avLst/>
          </a:prstGeom>
          <a:solidFill>
            <a:srgbClr val="FF9A53"/>
          </a:solidFill>
          <a:ln>
            <a:solidFill>
              <a:srgbClr val="FF9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0696" y="3300984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237744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WEEK 11–12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3913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32" b="1">
                <a:solidFill>
                  <a:srgbClr val="111623"/>
                </a:solidFill>
                <a:latin typeface="Aptos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4370832"/>
            <a:ext cx="1554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79" b="0">
                <a:solidFill>
                  <a:srgbClr val="6F7787"/>
                </a:solidFill>
                <a:latin typeface="Aptos"/>
              </a:rPr>
              <a:t>Deployment • CI/CD • docs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5650992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5719572"/>
            <a:ext cx="108813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AGILE / SCRUM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0" y="5650992"/>
            <a:ext cx="1371600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5232" y="5719572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WEEKLY SPRINTS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5650992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3992" y="5719572"/>
            <a:ext cx="108813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CODE REVIEWS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5650992"/>
            <a:ext cx="1920240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5719572"/>
            <a:ext cx="177393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CONTINUOUS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F7787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6F778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What I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Four outcomes that turned the internship into practical engineering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10512"/>
            <a:ext cx="3886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FROM LEARNING
TO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44368"/>
            <a:ext cx="3886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2" b="0">
                <a:solidFill>
                  <a:srgbClr val="6F7787"/>
                </a:solidFill>
                <a:latin typeface="Aptos"/>
              </a:rPr>
              <a:t>The strongest takeaways were not just technical tools, but how those tools fit into real development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737360"/>
            <a:ext cx="2788920" cy="1627632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965960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920240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8" b="1">
                <a:solidFill>
                  <a:srgbClr val="111623"/>
                </a:solidFill>
                <a:latin typeface="Aptos"/>
              </a:rPr>
              <a:t>PRACTICAL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68880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1" b="0">
                <a:solidFill>
                  <a:srgbClr val="6F7787"/>
                </a:solidFill>
                <a:latin typeface="Aptos"/>
              </a:rPr>
              <a:t>Build, structure and maintain a production-oriented web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737360"/>
            <a:ext cx="2788920" cy="1627632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965960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FF9A5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1920240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8" b="1">
                <a:solidFill>
                  <a:srgbClr val="111623"/>
                </a:solidFill>
                <a:latin typeface="Aptos"/>
              </a:rPr>
              <a:t>FRONTEND PROFICIENCY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468880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1" b="0">
                <a:solidFill>
                  <a:srgbClr val="6F7787"/>
                </a:solidFill>
                <a:latin typeface="Aptos"/>
              </a:rPr>
              <a:t>Responsive design and modern component-based UI development.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3767328"/>
            <a:ext cx="2788920" cy="1627632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995928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795B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950208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8" b="1">
                <a:solidFill>
                  <a:srgbClr val="111623"/>
                </a:solidFill>
                <a:latin typeface="Aptos"/>
              </a:rPr>
              <a:t>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98848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1" b="0">
                <a:solidFill>
                  <a:srgbClr val="6F7787"/>
                </a:solidFill>
                <a:latin typeface="Aptos"/>
              </a:rPr>
              <a:t>Git workflows, branches, reviews and team-oriented development.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3767328"/>
            <a:ext cx="2788920" cy="1627632"/>
          </a:xfrm>
          <a:prstGeom prst="roundRect">
            <a:avLst>
              <a:gd name="adj" fmla="val 8000"/>
            </a:avLst>
          </a:prstGeom>
          <a:solidFill>
            <a:srgbClr val="F7F7F3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3995928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FF9A53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950208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8" b="1">
                <a:solidFill>
                  <a:srgbClr val="111623"/>
                </a:solidFill>
                <a:latin typeface="Aptos"/>
              </a:rPr>
              <a:t>DELIVERY MINDSET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4498848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1" b="0">
                <a:solidFill>
                  <a:srgbClr val="6F7787"/>
                </a:solidFill>
                <a:latin typeface="Aptos"/>
              </a:rPr>
              <a:t>Deployment, optimization and security awareness.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F7787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6F778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3"/>
          </a:solidFill>
          <a:ln>
            <a:solidFill>
              <a:srgbClr val="F7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623"/>
                </a:solidFill>
                <a:latin typeface="Aptos Display"/>
              </a:rPr>
              <a:t>Challenges →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Two engineering problems and the practical approach used to address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21808" cy="4279392"/>
          </a:xfrm>
          <a:prstGeom prst="roundRect">
            <a:avLst>
              <a:gd name="adj" fmla="val 8000"/>
            </a:avLst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103120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2A3044"/>
          </a:solidFill>
          <a:ln>
            <a:solidFill>
              <a:srgbClr val="2A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71700"/>
            <a:ext cx="102412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9A53"/>
                </a:solidFill>
                <a:latin typeface="Aptos"/>
              </a:rPr>
              <a:t>CHALLENGE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 Display"/>
              </a:rPr>
              <a:t>Responsive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42519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1" b="0">
                <a:solidFill>
                  <a:srgbClr val="C3CCDC"/>
                </a:solidFill>
                <a:latin typeface="Aptos"/>
              </a:rPr>
              <a:t>Keeping the website consistent across different screen sizes, breakpoints and browsers.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2C7FF"/>
                </a:solidFill>
                <a:latin typeface="Aptos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25696"/>
            <a:ext cx="4297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1">
                <a:solidFill>
                  <a:srgbClr val="FFFFFF"/>
                </a:solidFill>
                <a:latin typeface="Aptos"/>
              </a:rPr>
              <a:t>Mobile-first CSS + systematic breakpoint testing + reusable UI components.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83080"/>
            <a:ext cx="5303520" cy="4279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2103120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171700"/>
            <a:ext cx="102412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9A53"/>
                </a:solidFill>
                <a:latin typeface="Aptos"/>
              </a:rPr>
              <a:t>CHALLENGE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623"/>
                </a:solidFill>
                <a:latin typeface="Aptos Display"/>
              </a:rPr>
              <a:t>Dynamic 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27832"/>
            <a:ext cx="42519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1" b="0">
                <a:solidFill>
                  <a:srgbClr val="6F7787"/>
                </a:solidFill>
                <a:latin typeface="Aptos"/>
              </a:rPr>
              <a:t>Connecting frontend and backend data flows without hurting page-load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965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9A53"/>
                </a:solidFill>
                <a:latin typeface="Aptos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425696"/>
            <a:ext cx="4297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1">
                <a:solidFill>
                  <a:srgbClr val="111623"/>
                </a:solidFill>
                <a:latin typeface="Aptos"/>
              </a:rPr>
              <a:t>Clear REST API contracts + efficient data fetching + asset optimization.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F7787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6F778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795BFF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346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 Display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83210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AEB5C6"/>
                </a:solidFill>
                <a:latin typeface="Aptos"/>
              </a:rPr>
              <a:t>What the internship established — and where the learning can go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45952" cy="1905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6473952" cy="4096512"/>
          </a:xfrm>
          <a:prstGeom prst="roundRect">
            <a:avLst>
              <a:gd name="adj" fmla="val 8000"/>
            </a:avLst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FF9A5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5166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 Display"/>
              </a:rPr>
              <a:t>A complete web-development
learning experience.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54132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2" b="0">
                <a:solidFill>
                  <a:srgbClr val="C3CFE0"/>
                </a:solidFill>
                <a:latin typeface="Aptos"/>
              </a:rPr>
              <a:t>The internship provided hands-on exposure from responsive UI design through backend integration and deployment, strengthening practical skills in frontend engineering, APIs, collaboration and performance-conscious development.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731520" cy="310896"/>
          </a:xfrm>
          <a:prstGeom prst="roundRect">
            <a:avLst>
              <a:gd name="adj" fmla="val 8000"/>
            </a:avLst>
          </a:prstGeom>
          <a:solidFill>
            <a:srgbClr val="2B354E"/>
          </a:solidFill>
          <a:ln>
            <a:solidFill>
              <a:srgbClr val="2B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5143500"/>
            <a:ext cx="5852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" y="507492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2B354E"/>
          </a:solidFill>
          <a:ln>
            <a:solidFill>
              <a:srgbClr val="2B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83664" y="5143500"/>
            <a:ext cx="8138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INTEGRATE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2" y="5074920"/>
            <a:ext cx="932688" cy="310896"/>
          </a:xfrm>
          <a:prstGeom prst="roundRect">
            <a:avLst>
              <a:gd name="adj" fmla="val 8000"/>
            </a:avLst>
          </a:prstGeom>
          <a:solidFill>
            <a:srgbClr val="2B354E"/>
          </a:solidFill>
          <a:ln>
            <a:solidFill>
              <a:srgbClr val="2B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5143500"/>
            <a:ext cx="7863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OPTIMIZE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5074920"/>
            <a:ext cx="822960" cy="310896"/>
          </a:xfrm>
          <a:prstGeom prst="roundRect">
            <a:avLst>
              <a:gd name="adj" fmla="val 8000"/>
            </a:avLst>
          </a:prstGeom>
          <a:solidFill>
            <a:srgbClr val="2B354E"/>
          </a:solidFill>
          <a:ln>
            <a:solidFill>
              <a:srgbClr val="2B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0791" y="5143500"/>
            <a:ext cx="6766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D2C7FF"/>
                </a:solidFill>
                <a:latin typeface="Aptos"/>
              </a:rPr>
              <a:t>DELIVER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92024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5" b="1">
                <a:solidFill>
                  <a:srgbClr val="D2C7FF"/>
                </a:solidFill>
                <a:latin typeface="Aptos"/>
              </a:rPr>
              <a:t>FUTURE SCOPE</a:t>
            </a:r>
          </a:p>
        </p:txBody>
      </p:sp>
      <p:sp>
        <p:nvSpPr>
          <p:cNvPr id="20" name="Oval 19"/>
          <p:cNvSpPr/>
          <p:nvPr/>
        </p:nvSpPr>
        <p:spPr>
          <a:xfrm>
            <a:off x="7635240" y="2377440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459736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368296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5" b="1">
                <a:solidFill>
                  <a:srgbClr val="FFFFFF"/>
                </a:solidFill>
                <a:latin typeface="Aptos"/>
              </a:rPr>
              <a:t>Automated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670048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>
                <a:solidFill>
                  <a:srgbClr val="ABBBD2"/>
                </a:solidFill>
                <a:latin typeface="Aptos"/>
              </a:rPr>
              <a:t>Add unit and integration tests to CI/CD.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3401568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3483864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3392424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5" b="1">
                <a:solidFill>
                  <a:srgbClr val="FFFFFF"/>
                </a:solidFill>
                <a:latin typeface="Aptos"/>
              </a:rPr>
              <a:t>Role-based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694176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>
                <a:solidFill>
                  <a:srgbClr val="ABBBD2"/>
                </a:solidFill>
                <a:latin typeface="Aptos"/>
              </a:rPr>
              <a:t>Expand the admin interface with access controls.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4425696"/>
            <a:ext cx="347472" cy="347472"/>
          </a:xfrm>
          <a:prstGeom prst="ellipse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4507992"/>
            <a:ext cx="3474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416552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5" b="1">
                <a:solidFill>
                  <a:srgbClr val="FFFFFF"/>
                </a:solidFill>
                <a:latin typeface="Aptos"/>
              </a:rPr>
              <a:t>Performance + 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718304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>
                <a:solidFill>
                  <a:srgbClr val="ABBBD2"/>
                </a:solidFill>
                <a:latin typeface="Aptos"/>
              </a:rPr>
              <a:t>Further improve accessibility, speed and search visibility.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A0A8BA"/>
                </a:solidFill>
                <a:latin typeface="Aptos"/>
              </a:rPr>
              <a:t>IILM UNIVERSITY  •  SCHOOL OF CSE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48309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A0A8B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35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latin typeface="Aptos Display"/>
              </a:rPr>
              <a:t>CERTIFICATION &amp; OFFICIAL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6200" y="1161288"/>
            <a:ext cx="4434840" cy="3200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620" y="1417320"/>
            <a:ext cx="3652758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565392"/>
            <a:ext cx="10835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latin typeface="Aptos"/>
              </a:rPr>
              <a:t>IILM UNIVERSITY  •  SCHOOL OF COMPUTER SCIENCE &amp;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3"/>
          </a:solidFill>
          <a:ln>
            <a:solidFill>
              <a:srgbClr val="F7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11623"/>
          </a:solidFill>
          <a:ln>
            <a:solidFill>
              <a:srgbClr val="11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6400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111623"/>
                </a:solidFill>
                <a:latin typeface="Aptos Display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F7787"/>
                </a:solidFill>
                <a:latin typeface="Aptos"/>
              </a:rPr>
              <a:t>for your time &amp; attention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38144"/>
            <a:ext cx="2880360" cy="25400"/>
          </a:xfrm>
          <a:prstGeom prst="rect">
            <a:avLst/>
          </a:prstGeom>
          <a:solidFill>
            <a:srgbClr val="795BFF"/>
          </a:solidFill>
          <a:ln>
            <a:solidFill>
              <a:srgbClr val="7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58768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5" b="1">
                <a:solidFill>
                  <a:srgbClr val="111623"/>
                </a:solidFill>
                <a:latin typeface="Aptos"/>
              </a:rPr>
              <a:t>HARSH BABU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587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6F7787"/>
                </a:solidFill>
                <a:latin typeface="Aptos"/>
              </a:rPr>
              <a:t>25SCS1003002404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4" b="0">
                <a:solidFill>
                  <a:srgbClr val="6F7787"/>
                </a:solidFill>
                <a:latin typeface="Aptos"/>
              </a:rPr>
              <a:t>B.Tech CSE  •  Batch 2026–27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36592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F7787"/>
                </a:solidFill>
                <a:latin typeface="Aptos"/>
              </a:rPr>
              <a:t>IILM University, Greater Noida  |  Sieve Capital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2331720" cy="310896"/>
          </a:xfrm>
          <a:prstGeom prst="roundRect">
            <a:avLst>
              <a:gd name="adj" fmla="val 8000"/>
            </a:avLst>
          </a:prstGeom>
          <a:solidFill>
            <a:srgbClr val="EEECF9"/>
          </a:solidFill>
          <a:ln>
            <a:solidFill>
              <a:srgbClr val="E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00700"/>
            <a:ext cx="21854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623"/>
                </a:solidFill>
                <a:latin typeface="Aptos"/>
              </a:rPr>
              <a:t>WEB DEVELOPMENT 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32764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9BA6B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